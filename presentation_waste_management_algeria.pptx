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1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2.png"/><Relationship Id="rId3" Type="http://schemas.openxmlformats.org/officeDocument/2006/relationships/image" Target="../media/image3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pPr>
              <a:defRPr sz="4400" b="1">
                <a:solidFill>
                  <a:srgbClr val="1F77B4"/>
                </a:solidFill>
              </a:defRPr>
            </a:pPr>
            <a:r>
              <a:t>ENVIRONMENTAL DASHBOARD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pPr>
              <a:defRPr sz="2000"/>
            </a:pPr>
            <a:r>
              <a:t>Comparative Waste Management Analysis</a:t>
            </a:r>
          </a:p>
          <a:p>
            <a:r>
              <a:t>Europe &amp; Africa (1990-2021)</a:t>
            </a:r>
          </a:p>
          <a:p/>
          <a:p>
            <a:r>
              <a:t>Bellatreche Mohamed Amine</a:t>
            </a:r>
          </a:p>
          <a:p>
            <a:r>
              <a:t>Cherif Ghizlane Imane</a:t>
            </a:r>
          </a:p>
          <a:p>
            <a:r>
              <a:t>Novembre 2025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Context &amp; Project Objectives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457200" y="1371600"/>
            <a:ext cx="8229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2000" b="1"/>
            </a:pPr>
            <a:r>
              <a:t>🌍 GLOBAL CONTEXT</a:t>
            </a:r>
          </a:p>
          <a:p>
            <a:pPr lvl="1">
              <a:defRPr sz="1600"/>
            </a:pPr>
            <a:r>
              <a:t>• 49 countries analyzed (27 Europe + 22 Africa)</a:t>
            </a:r>
          </a:p>
          <a:p>
            <a:pPr lvl="1">
              <a:defRPr sz="1600"/>
            </a:pPr>
            <a:r>
              <a:t>• North-South divide in waste management infrastructure</a:t>
            </a:r>
          </a:p>
          <a:p>
            <a:pPr lvl="1">
              <a:defRPr sz="1600"/>
            </a:pPr>
            <a:r>
              <a:t>• Europe: 25-35% recycling rates, advanced systems</a:t>
            </a:r>
          </a:p>
          <a:p>
            <a:pPr lvl="1">
              <a:spcAft>
                <a:spcPts val="2000"/>
              </a:spcAft>
              <a:defRPr sz="1600"/>
            </a:pPr>
            <a:r>
              <a:t>• Africa: Rapid waste growth (3-5%/year), limited infrastructure</a:t>
            </a:r>
          </a:p>
          <a:p>
            <a:pPr>
              <a:spcAft>
                <a:spcPts val="1000"/>
              </a:spcAft>
              <a:defRPr sz="2000" b="1"/>
            </a:pPr>
            <a:r>
              <a:t>🎯 OBJECTIVES</a:t>
            </a:r>
          </a:p>
          <a:p>
            <a:pPr lvl="1">
              <a:defRPr sz="1600"/>
            </a:pPr>
            <a:r>
              <a:t>• Comparative analysis: Europe vs. Africa waste practices</a:t>
            </a:r>
          </a:p>
          <a:p>
            <a:pPr lvl="1">
              <a:defRPr sz="1600"/>
            </a:pPr>
            <a:r>
              <a:t>• Machine learning forecasts (ARIMA models)</a:t>
            </a:r>
          </a:p>
          <a:p>
            <a:pPr lvl="1">
              <a:defRPr sz="1600"/>
            </a:pPr>
            <a:r>
              <a:t>• Environmental risk assessment (rule-based scoring)</a:t>
            </a:r>
          </a:p>
          <a:p>
            <a:pPr lvl="1">
              <a:defRPr sz="1600"/>
            </a:pPr>
            <a:r>
              <a:t>• Evidence-based policy recommendations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Data Sources &amp; Methodology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457200" y="1371600"/>
            <a:ext cx="8229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2000" b="1"/>
            </a:pPr>
            <a:r>
              <a:t>📊 DATA SOURCES</a:t>
            </a:r>
          </a:p>
          <a:p>
            <a:pPr lvl="1">
              <a:defRPr sz="1600"/>
            </a:pPr>
            <a:r>
              <a:t>• Waste generation: UN Environment (132 countries, 2000-2021)</a:t>
            </a:r>
          </a:p>
          <a:p>
            <a:pPr lvl="1">
              <a:defRPr sz="1600"/>
            </a:pPr>
            <a:r>
              <a:t>• Recycling rates: OECD Municipal Waste (38 countries, 1990-2015)</a:t>
            </a:r>
          </a:p>
          <a:p>
            <a:pPr lvl="1">
              <a:spcAft>
                <a:spcPts val="2000"/>
              </a:spcAft>
              <a:defRPr sz="1600"/>
            </a:pPr>
            <a:r>
              <a:t>• Linear interpolation: Biennial data → Annual time series</a:t>
            </a:r>
          </a:p>
          <a:p>
            <a:pPr>
              <a:spcAft>
                <a:spcPts val="1000"/>
              </a:spcAft>
              <a:defRPr sz="2000" b="1"/>
            </a:pPr>
            <a:r>
              <a:t>🎯 KEY INDICATORS</a:t>
            </a:r>
          </a:p>
          <a:p>
            <a:pPr lvl="1">
              <a:defRPr sz="1600"/>
            </a:pPr>
            <a:r>
              <a:t>✓ Recycling rate (%, Europe only)</a:t>
            </a:r>
          </a:p>
          <a:p>
            <a:pPr lvl="1">
              <a:defRPr sz="1600"/>
            </a:pPr>
            <a:r>
              <a:t>✓ Waste per capita (kg/year)</a:t>
            </a:r>
          </a:p>
          <a:p>
            <a:pPr lvl="1">
              <a:defRPr sz="1600"/>
            </a:pPr>
            <a:r>
              <a:t>✓ Waste by sector (households, construction, manufacturing, services)</a:t>
            </a:r>
          </a:p>
          <a:p>
            <a:pPr lvl="1">
              <a:defRPr sz="1600"/>
            </a:pPr>
            <a:r>
              <a:t>✓ Risk score (0-100, rule-based)</a:t>
            </a:r>
          </a:p>
          <a:p>
            <a:pPr lvl="1">
              <a:defRPr sz="1600"/>
            </a:pPr>
            <a:r>
              <a:t>✓ 5-year ARIMA forecasts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800" b="1"/>
            </a:pPr>
            <a:r>
              <a:t>Waste Management: Europe vs. Africa (1990-2021)</a:t>
            </a:r>
          </a:p>
        </p:txBody>
      </p:sp>
      <p:pic>
        <p:nvPicPr>
          <p:cNvPr id="4" name="Picture 3" descr="chart1_total_waste_tren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097280"/>
            <a:ext cx="8229600" cy="462915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457200" y="566928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600"/>
            </a:pPr>
            <a:r>
              <a:t>🇪🇺 Europe: 500 kg/cap/yr avg, 30% recycling  |  🌍 Africa: 250 kg/cap/yr avg, 3-5% growth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800" b="1"/>
            </a:pPr>
            <a:r>
              <a:t>Waste Composition by Economic Sector</a:t>
            </a:r>
          </a:p>
        </p:txBody>
      </p:sp>
      <p:pic>
        <p:nvPicPr>
          <p:cNvPr id="4" name="Picture 3" descr="chart5_composition_pi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097280"/>
            <a:ext cx="4114800" cy="2314575"/>
          </a:xfrm>
          <a:prstGeom prst="rect">
            <a:avLst/>
          </a:prstGeom>
        </p:spPr>
      </p:pic>
      <p:pic>
        <p:nvPicPr>
          <p:cNvPr id="5" name="Picture 4" descr="chart7_composition_bar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0" y="1097280"/>
            <a:ext cx="4114800" cy="2314575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566928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/>
            </a:pPr>
            <a:r>
              <a:t>✓ Households = largest sector | ✓ Construction waste significant | ✓ Stacked area shows temporal evolution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Strategic Recommendations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457200" y="1371600"/>
            <a:ext cx="8229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defRPr sz="1800" b="1"/>
            </a:pPr>
            <a:r>
              <a:t>🇪🇺 EUROPE (OPTIMIZATION)</a:t>
            </a:r>
          </a:p>
          <a:p>
            <a:pPr lvl="1">
              <a:spcAft>
                <a:spcPts val="300"/>
              </a:spcAft>
              <a:defRPr sz="1400"/>
            </a:pPr>
            <a:r>
              <a:t>• Circular economy transition</a:t>
            </a:r>
          </a:p>
          <a:p>
            <a:pPr lvl="1">
              <a:spcAft>
                <a:spcPts val="300"/>
              </a:spcAft>
              <a:defRPr sz="1400"/>
            </a:pPr>
            <a:r>
              <a:t>• Meet 50% recycling targets</a:t>
            </a:r>
          </a:p>
          <a:p>
            <a:pPr lvl="1">
              <a:spcAft>
                <a:spcPts val="300"/>
              </a:spcAft>
              <a:defRPr sz="1400"/>
            </a:pPr>
            <a:r>
              <a:t>• Extended Producer Responsibility</a:t>
            </a:r>
          </a:p>
          <a:p>
            <a:pPr lvl="1">
              <a:spcAft>
                <a:spcPts val="300"/>
              </a:spcAft>
              <a:defRPr sz="1400"/>
            </a:pPr>
            <a:r>
              <a:t>• Harmonize data collection</a:t>
            </a:r>
          </a:p>
          <a:p>
            <a:pPr>
              <a:spcAft>
                <a:spcPts val="1000"/>
              </a:spcAft>
            </a:pPr>
          </a:p>
          <a:p>
            <a:pPr>
              <a:spcAft>
                <a:spcPts val="500"/>
              </a:spcAft>
              <a:defRPr sz="1800" b="1"/>
            </a:pPr>
            <a:r>
              <a:t>🌍 AFRICA (INFRASTRUCTURE)</a:t>
            </a:r>
          </a:p>
          <a:p>
            <a:pPr lvl="1">
              <a:spcAft>
                <a:spcPts val="300"/>
              </a:spcAft>
              <a:defRPr sz="1400"/>
            </a:pPr>
            <a:r>
              <a:t>• Basic collection systems</a:t>
            </a:r>
          </a:p>
          <a:p>
            <a:pPr lvl="1">
              <a:spcAft>
                <a:spcPts val="300"/>
              </a:spcAft>
              <a:defRPr sz="1400"/>
            </a:pPr>
            <a:r>
              <a:t>• Formalize informal sector</a:t>
            </a:r>
          </a:p>
          <a:p>
            <a:pPr lvl="1">
              <a:spcAft>
                <a:spcPts val="300"/>
              </a:spcAft>
              <a:defRPr sz="1400"/>
            </a:pPr>
            <a:r>
              <a:t>• Regional cooperation</a:t>
            </a:r>
          </a:p>
          <a:p>
            <a:pPr lvl="1">
              <a:spcAft>
                <a:spcPts val="300"/>
              </a:spcAft>
              <a:defRPr sz="1400"/>
            </a:pPr>
            <a:r>
              <a:t>• Technology transfer from Europe</a:t>
            </a:r>
          </a:p>
          <a:p>
            <a:pPr>
              <a:spcAft>
                <a:spcPts val="1000"/>
              </a:spcAft>
            </a:pPr>
          </a:p>
          <a:p>
            <a:pPr>
              <a:spcAft>
                <a:spcPts val="500"/>
              </a:spcAft>
              <a:defRPr sz="1800" b="1"/>
            </a:pPr>
            <a:r>
              <a:t>🤖 ML &amp; ANALYTICS</a:t>
            </a:r>
          </a:p>
          <a:p>
            <a:pPr lvl="1">
              <a:spcAft>
                <a:spcPts val="300"/>
              </a:spcAft>
              <a:defRPr sz="1400"/>
            </a:pPr>
            <a:r>
              <a:t>• ARIMA forecasting: 5-year trends</a:t>
            </a:r>
          </a:p>
          <a:p>
            <a:pPr lvl="1">
              <a:spcAft>
                <a:spcPts val="300"/>
              </a:spcAft>
              <a:defRPr sz="1400"/>
            </a:pPr>
            <a:r>
              <a:t>• Risk assessment: Priority countries</a:t>
            </a:r>
          </a:p>
          <a:p>
            <a:pPr lvl="1">
              <a:spcAft>
                <a:spcPts val="300"/>
              </a:spcAft>
              <a:defRPr sz="1400"/>
            </a:pPr>
            <a:r>
              <a:t>• Scenario modeling: Policy impact</a:t>
            </a:r>
          </a:p>
          <a:p>
            <a:pPr lvl="1">
              <a:spcAft>
                <a:spcPts val="300"/>
              </a:spcAft>
              <a:defRPr sz="1400"/>
            </a:pPr>
            <a:r>
              <a:t>• Dashboard for evidence-based decisions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828800" y="2286000"/>
            <a:ext cx="54864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400" b="1"/>
            </a:pPr>
            <a:r>
              <a:t>❓ QUESTIONS ?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828800" y="3200400"/>
            <a:ext cx="54864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800"/>
            </a:pPr>
            <a:r>
              <a:t>Merci de votre attention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828800" y="4389120"/>
            <a:ext cx="54864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600"/>
            </a:pPr>
            <a:r>
              <a:t>📧 [votre.email@institution.dz]</a:t>
            </a:r>
            <a:br/>
            <a:r>
              <a:t>📊 Dashboard disponible sur demande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5943600"/>
            <a:ext cx="73152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">
                <a:solidFill>
                  <a:srgbClr val="808080"/>
                </a:solidFill>
              </a:defRPr>
            </a:pPr>
            <a:r>
              <a:t>─────────────────────────────</a:t>
            </a:r>
            <a:br/>
            <a:r>
              <a:t>Sources: UN Environment (132 countries) | OECD Municipal Waste (38 countries) | World Bank Population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